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8D5145-B281-4D86-9A47-181402986CD2}" v="55" dt="2026-04-27T08:24:01.834"/>
    <p1510:client id="{5D8B49D0-EB3D-5BE7-CE8D-39FE5CCEA9F6}" v="23" dt="2026-04-27T12:28:48.9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62138C-D3EE-420C-9796-930370B5D11C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FD48B55-2662-43C7-8572-3FA555D2C8B6}">
      <dgm:prSet/>
      <dgm:spPr/>
      <dgm:t>
        <a:bodyPr/>
        <a:lstStyle/>
        <a:p>
          <a:r>
            <a:rPr lang="en-US"/>
            <a:t>K-means (1)</a:t>
          </a:r>
        </a:p>
      </dgm:t>
    </dgm:pt>
    <dgm:pt modelId="{82B73968-D364-4009-9DAD-D6BD6AC09D72}" type="parTrans" cxnId="{C20739A0-FBD8-43FE-A357-3DE7693C1D5F}">
      <dgm:prSet/>
      <dgm:spPr/>
      <dgm:t>
        <a:bodyPr/>
        <a:lstStyle/>
        <a:p>
          <a:endParaRPr lang="en-US"/>
        </a:p>
      </dgm:t>
    </dgm:pt>
    <dgm:pt modelId="{49814A65-4724-4EBE-BD57-F3B31F3AA158}" type="sibTrans" cxnId="{C20739A0-FBD8-43FE-A357-3DE7693C1D5F}">
      <dgm:prSet/>
      <dgm:spPr/>
      <dgm:t>
        <a:bodyPr/>
        <a:lstStyle/>
        <a:p>
          <a:endParaRPr lang="en-US"/>
        </a:p>
      </dgm:t>
    </dgm:pt>
    <dgm:pt modelId="{24DC4066-1B79-4811-9254-4A6837ABAE99}">
      <dgm:prSet/>
      <dgm:spPr/>
      <dgm:t>
        <a:bodyPr/>
        <a:lstStyle/>
        <a:p>
          <a:r>
            <a:rPr lang="en-US"/>
            <a:t>DBSCAN (2) </a:t>
          </a:r>
        </a:p>
      </dgm:t>
    </dgm:pt>
    <dgm:pt modelId="{C86D682D-B5FD-4423-83F2-CC7536F85B6F}" type="parTrans" cxnId="{00BFCAA8-CFEE-4665-8F85-BAA4A36C192E}">
      <dgm:prSet/>
      <dgm:spPr/>
      <dgm:t>
        <a:bodyPr/>
        <a:lstStyle/>
        <a:p>
          <a:endParaRPr lang="en-US"/>
        </a:p>
      </dgm:t>
    </dgm:pt>
    <dgm:pt modelId="{9B2C2CDB-3B4D-43D4-8C8E-E52D4C97E063}" type="sibTrans" cxnId="{00BFCAA8-CFEE-4665-8F85-BAA4A36C192E}">
      <dgm:prSet/>
      <dgm:spPr/>
      <dgm:t>
        <a:bodyPr/>
        <a:lstStyle/>
        <a:p>
          <a:endParaRPr lang="en-US"/>
        </a:p>
      </dgm:t>
    </dgm:pt>
    <dgm:pt modelId="{6CE4C111-6ABB-4861-BF98-FF153882E525}">
      <dgm:prSet/>
      <dgm:spPr/>
      <dgm:t>
        <a:bodyPr/>
        <a:lstStyle/>
        <a:p>
          <a:r>
            <a:rPr lang="en-US"/>
            <a:t>Hierarchical (3)</a:t>
          </a:r>
        </a:p>
      </dgm:t>
    </dgm:pt>
    <dgm:pt modelId="{5483CC00-D7A7-4879-ABF0-8241155738D1}" type="parTrans" cxnId="{E0784D0F-D4BE-4EFD-9BF4-88D1694049CF}">
      <dgm:prSet/>
      <dgm:spPr/>
      <dgm:t>
        <a:bodyPr/>
        <a:lstStyle/>
        <a:p>
          <a:endParaRPr lang="en-US"/>
        </a:p>
      </dgm:t>
    </dgm:pt>
    <dgm:pt modelId="{14159DBC-5FD7-42A1-BE28-8F855EA9A9EE}" type="sibTrans" cxnId="{E0784D0F-D4BE-4EFD-9BF4-88D1694049CF}">
      <dgm:prSet/>
      <dgm:spPr/>
      <dgm:t>
        <a:bodyPr/>
        <a:lstStyle/>
        <a:p>
          <a:endParaRPr lang="en-US"/>
        </a:p>
      </dgm:t>
    </dgm:pt>
    <dgm:pt modelId="{74891449-2BBF-4B72-9DB0-24B45CAFF6DE}">
      <dgm:prSet/>
      <dgm:spPr/>
      <dgm:t>
        <a:bodyPr/>
        <a:lstStyle/>
        <a:p>
          <a:r>
            <a:rPr lang="en-US" dirty="0"/>
            <a:t>Firefly (4) </a:t>
          </a:r>
        </a:p>
      </dgm:t>
    </dgm:pt>
    <dgm:pt modelId="{475B559B-1520-4B69-8F29-3BF870160CE0}" type="parTrans" cxnId="{70605B11-8BDF-4F54-A6CD-A6D11569601E}">
      <dgm:prSet/>
      <dgm:spPr/>
      <dgm:t>
        <a:bodyPr/>
        <a:lstStyle/>
        <a:p>
          <a:endParaRPr lang="en-US"/>
        </a:p>
      </dgm:t>
    </dgm:pt>
    <dgm:pt modelId="{4E97EA1D-E180-4004-B5AD-1CDA7D018018}" type="sibTrans" cxnId="{70605B11-8BDF-4F54-A6CD-A6D11569601E}">
      <dgm:prSet/>
      <dgm:spPr/>
      <dgm:t>
        <a:bodyPr/>
        <a:lstStyle/>
        <a:p>
          <a:endParaRPr lang="en-US"/>
        </a:p>
      </dgm:t>
    </dgm:pt>
    <dgm:pt modelId="{BCFDBFB6-8163-4A29-995F-E8710E8AB902}" type="pres">
      <dgm:prSet presAssocID="{CF62138C-D3EE-420C-9796-930370B5D11C}" presName="vert0" presStyleCnt="0">
        <dgm:presLayoutVars>
          <dgm:dir/>
          <dgm:animOne val="branch"/>
          <dgm:animLvl val="lvl"/>
        </dgm:presLayoutVars>
      </dgm:prSet>
      <dgm:spPr/>
    </dgm:pt>
    <dgm:pt modelId="{BA481745-27CD-4681-87A8-D0E7E8D58B52}" type="pres">
      <dgm:prSet presAssocID="{8FD48B55-2662-43C7-8572-3FA555D2C8B6}" presName="thickLine" presStyleLbl="alignNode1" presStyleIdx="0" presStyleCnt="4"/>
      <dgm:spPr/>
    </dgm:pt>
    <dgm:pt modelId="{1B49CF11-A53E-4600-94A0-C7012B9CDC1B}" type="pres">
      <dgm:prSet presAssocID="{8FD48B55-2662-43C7-8572-3FA555D2C8B6}" presName="horz1" presStyleCnt="0"/>
      <dgm:spPr/>
    </dgm:pt>
    <dgm:pt modelId="{3209861E-82B0-4D06-9D39-DDC37BFF3AB5}" type="pres">
      <dgm:prSet presAssocID="{8FD48B55-2662-43C7-8572-3FA555D2C8B6}" presName="tx1" presStyleLbl="revTx" presStyleIdx="0" presStyleCnt="4"/>
      <dgm:spPr/>
    </dgm:pt>
    <dgm:pt modelId="{15559B3F-D439-4D4D-80F7-7A7F5BBE9181}" type="pres">
      <dgm:prSet presAssocID="{8FD48B55-2662-43C7-8572-3FA555D2C8B6}" presName="vert1" presStyleCnt="0"/>
      <dgm:spPr/>
    </dgm:pt>
    <dgm:pt modelId="{BD2A4464-A691-4657-9C76-F04C5AE56F26}" type="pres">
      <dgm:prSet presAssocID="{24DC4066-1B79-4811-9254-4A6837ABAE99}" presName="thickLine" presStyleLbl="alignNode1" presStyleIdx="1" presStyleCnt="4"/>
      <dgm:spPr/>
    </dgm:pt>
    <dgm:pt modelId="{2E135C5F-E4F8-489E-B3A7-7CCB7C4936CB}" type="pres">
      <dgm:prSet presAssocID="{24DC4066-1B79-4811-9254-4A6837ABAE99}" presName="horz1" presStyleCnt="0"/>
      <dgm:spPr/>
    </dgm:pt>
    <dgm:pt modelId="{9E54D531-D5B6-43A7-AE97-E16CCA7C279F}" type="pres">
      <dgm:prSet presAssocID="{24DC4066-1B79-4811-9254-4A6837ABAE99}" presName="tx1" presStyleLbl="revTx" presStyleIdx="1" presStyleCnt="4"/>
      <dgm:spPr/>
    </dgm:pt>
    <dgm:pt modelId="{8A0C91E6-40E5-495E-90D0-C2C0FB7F04D7}" type="pres">
      <dgm:prSet presAssocID="{24DC4066-1B79-4811-9254-4A6837ABAE99}" presName="vert1" presStyleCnt="0"/>
      <dgm:spPr/>
    </dgm:pt>
    <dgm:pt modelId="{B38730F8-A4AA-4348-A5BE-EAE0AA3460A6}" type="pres">
      <dgm:prSet presAssocID="{6CE4C111-6ABB-4861-BF98-FF153882E525}" presName="thickLine" presStyleLbl="alignNode1" presStyleIdx="2" presStyleCnt="4"/>
      <dgm:spPr/>
    </dgm:pt>
    <dgm:pt modelId="{755F4B61-F555-489B-9B5F-463F369E5379}" type="pres">
      <dgm:prSet presAssocID="{6CE4C111-6ABB-4861-BF98-FF153882E525}" presName="horz1" presStyleCnt="0"/>
      <dgm:spPr/>
    </dgm:pt>
    <dgm:pt modelId="{0E52D901-B6E7-4693-AADD-6C2CB2AF6C64}" type="pres">
      <dgm:prSet presAssocID="{6CE4C111-6ABB-4861-BF98-FF153882E525}" presName="tx1" presStyleLbl="revTx" presStyleIdx="2" presStyleCnt="4"/>
      <dgm:spPr/>
    </dgm:pt>
    <dgm:pt modelId="{52A1EE05-7CE9-4B0D-83DD-1016A14ED3BA}" type="pres">
      <dgm:prSet presAssocID="{6CE4C111-6ABB-4861-BF98-FF153882E525}" presName="vert1" presStyleCnt="0"/>
      <dgm:spPr/>
    </dgm:pt>
    <dgm:pt modelId="{B9E7D862-D5AF-40AC-958A-CADAF41EA59E}" type="pres">
      <dgm:prSet presAssocID="{74891449-2BBF-4B72-9DB0-24B45CAFF6DE}" presName="thickLine" presStyleLbl="alignNode1" presStyleIdx="3" presStyleCnt="4"/>
      <dgm:spPr/>
    </dgm:pt>
    <dgm:pt modelId="{330ECC40-F19C-44DA-BE7B-C87E905BF719}" type="pres">
      <dgm:prSet presAssocID="{74891449-2BBF-4B72-9DB0-24B45CAFF6DE}" presName="horz1" presStyleCnt="0"/>
      <dgm:spPr/>
    </dgm:pt>
    <dgm:pt modelId="{4862D4B3-AA4C-4E74-B510-734469887807}" type="pres">
      <dgm:prSet presAssocID="{74891449-2BBF-4B72-9DB0-24B45CAFF6DE}" presName="tx1" presStyleLbl="revTx" presStyleIdx="3" presStyleCnt="4"/>
      <dgm:spPr/>
    </dgm:pt>
    <dgm:pt modelId="{F9A1BD64-574F-42F7-A60B-02DB37AF325B}" type="pres">
      <dgm:prSet presAssocID="{74891449-2BBF-4B72-9DB0-24B45CAFF6DE}" presName="vert1" presStyleCnt="0"/>
      <dgm:spPr/>
    </dgm:pt>
  </dgm:ptLst>
  <dgm:cxnLst>
    <dgm:cxn modelId="{E0784D0F-D4BE-4EFD-9BF4-88D1694049CF}" srcId="{CF62138C-D3EE-420C-9796-930370B5D11C}" destId="{6CE4C111-6ABB-4861-BF98-FF153882E525}" srcOrd="2" destOrd="0" parTransId="{5483CC00-D7A7-4879-ABF0-8241155738D1}" sibTransId="{14159DBC-5FD7-42A1-BE28-8F855EA9A9EE}"/>
    <dgm:cxn modelId="{70605B11-8BDF-4F54-A6CD-A6D11569601E}" srcId="{CF62138C-D3EE-420C-9796-930370B5D11C}" destId="{74891449-2BBF-4B72-9DB0-24B45CAFF6DE}" srcOrd="3" destOrd="0" parTransId="{475B559B-1520-4B69-8F29-3BF870160CE0}" sibTransId="{4E97EA1D-E180-4004-B5AD-1CDA7D018018}"/>
    <dgm:cxn modelId="{05D14114-DBF0-4AB9-9429-4C9E4479762C}" type="presOf" srcId="{6CE4C111-6ABB-4861-BF98-FF153882E525}" destId="{0E52D901-B6E7-4693-AADD-6C2CB2AF6C64}" srcOrd="0" destOrd="0" presId="urn:microsoft.com/office/officeart/2008/layout/LinedList"/>
    <dgm:cxn modelId="{2EE2FD19-EBEB-4084-816B-80276C20D79F}" type="presOf" srcId="{8FD48B55-2662-43C7-8572-3FA555D2C8B6}" destId="{3209861E-82B0-4D06-9D39-DDC37BFF3AB5}" srcOrd="0" destOrd="0" presId="urn:microsoft.com/office/officeart/2008/layout/LinedList"/>
    <dgm:cxn modelId="{B40A413D-466D-4877-8CDA-3267BD7EE898}" type="presOf" srcId="{24DC4066-1B79-4811-9254-4A6837ABAE99}" destId="{9E54D531-D5B6-43A7-AE97-E16CCA7C279F}" srcOrd="0" destOrd="0" presId="urn:microsoft.com/office/officeart/2008/layout/LinedList"/>
    <dgm:cxn modelId="{63910F8B-0190-436A-94BF-81F6664E2AC4}" type="presOf" srcId="{74891449-2BBF-4B72-9DB0-24B45CAFF6DE}" destId="{4862D4B3-AA4C-4E74-B510-734469887807}" srcOrd="0" destOrd="0" presId="urn:microsoft.com/office/officeart/2008/layout/LinedList"/>
    <dgm:cxn modelId="{C20739A0-FBD8-43FE-A357-3DE7693C1D5F}" srcId="{CF62138C-D3EE-420C-9796-930370B5D11C}" destId="{8FD48B55-2662-43C7-8572-3FA555D2C8B6}" srcOrd="0" destOrd="0" parTransId="{82B73968-D364-4009-9DAD-D6BD6AC09D72}" sibTransId="{49814A65-4724-4EBE-BD57-F3B31F3AA158}"/>
    <dgm:cxn modelId="{00BFCAA8-CFEE-4665-8F85-BAA4A36C192E}" srcId="{CF62138C-D3EE-420C-9796-930370B5D11C}" destId="{24DC4066-1B79-4811-9254-4A6837ABAE99}" srcOrd="1" destOrd="0" parTransId="{C86D682D-B5FD-4423-83F2-CC7536F85B6F}" sibTransId="{9B2C2CDB-3B4D-43D4-8C8E-E52D4C97E063}"/>
    <dgm:cxn modelId="{17D899B7-3742-4372-BE34-D0F71BB46194}" type="presOf" srcId="{CF62138C-D3EE-420C-9796-930370B5D11C}" destId="{BCFDBFB6-8163-4A29-995F-E8710E8AB902}" srcOrd="0" destOrd="0" presId="urn:microsoft.com/office/officeart/2008/layout/LinedList"/>
    <dgm:cxn modelId="{70312690-A86E-4845-9DAF-E39E26C40564}" type="presParOf" srcId="{BCFDBFB6-8163-4A29-995F-E8710E8AB902}" destId="{BA481745-27CD-4681-87A8-D0E7E8D58B52}" srcOrd="0" destOrd="0" presId="urn:microsoft.com/office/officeart/2008/layout/LinedList"/>
    <dgm:cxn modelId="{21E9250F-5818-47F7-9DF1-095DDD74780B}" type="presParOf" srcId="{BCFDBFB6-8163-4A29-995F-E8710E8AB902}" destId="{1B49CF11-A53E-4600-94A0-C7012B9CDC1B}" srcOrd="1" destOrd="0" presId="urn:microsoft.com/office/officeart/2008/layout/LinedList"/>
    <dgm:cxn modelId="{12468A7F-55A2-442F-BE56-EB2DCCF0ADCA}" type="presParOf" srcId="{1B49CF11-A53E-4600-94A0-C7012B9CDC1B}" destId="{3209861E-82B0-4D06-9D39-DDC37BFF3AB5}" srcOrd="0" destOrd="0" presId="urn:microsoft.com/office/officeart/2008/layout/LinedList"/>
    <dgm:cxn modelId="{1A905E74-A819-4613-8113-7C53F10BCA29}" type="presParOf" srcId="{1B49CF11-A53E-4600-94A0-C7012B9CDC1B}" destId="{15559B3F-D439-4D4D-80F7-7A7F5BBE9181}" srcOrd="1" destOrd="0" presId="urn:microsoft.com/office/officeart/2008/layout/LinedList"/>
    <dgm:cxn modelId="{AB56B78C-7DF1-4A70-A54B-5212488DC84E}" type="presParOf" srcId="{BCFDBFB6-8163-4A29-995F-E8710E8AB902}" destId="{BD2A4464-A691-4657-9C76-F04C5AE56F26}" srcOrd="2" destOrd="0" presId="urn:microsoft.com/office/officeart/2008/layout/LinedList"/>
    <dgm:cxn modelId="{ABBFEA3C-7FE9-4B4F-8F85-8FEBC6293F0E}" type="presParOf" srcId="{BCFDBFB6-8163-4A29-995F-E8710E8AB902}" destId="{2E135C5F-E4F8-489E-B3A7-7CCB7C4936CB}" srcOrd="3" destOrd="0" presId="urn:microsoft.com/office/officeart/2008/layout/LinedList"/>
    <dgm:cxn modelId="{49F52952-6F46-46AF-98F1-9F51B9C0EF95}" type="presParOf" srcId="{2E135C5F-E4F8-489E-B3A7-7CCB7C4936CB}" destId="{9E54D531-D5B6-43A7-AE97-E16CCA7C279F}" srcOrd="0" destOrd="0" presId="urn:microsoft.com/office/officeart/2008/layout/LinedList"/>
    <dgm:cxn modelId="{C302E02E-F56C-4C21-9172-2625A4437AA1}" type="presParOf" srcId="{2E135C5F-E4F8-489E-B3A7-7CCB7C4936CB}" destId="{8A0C91E6-40E5-495E-90D0-C2C0FB7F04D7}" srcOrd="1" destOrd="0" presId="urn:microsoft.com/office/officeart/2008/layout/LinedList"/>
    <dgm:cxn modelId="{DFFD9A97-B52A-4FBD-80D7-72DFC7F3EA1B}" type="presParOf" srcId="{BCFDBFB6-8163-4A29-995F-E8710E8AB902}" destId="{B38730F8-A4AA-4348-A5BE-EAE0AA3460A6}" srcOrd="4" destOrd="0" presId="urn:microsoft.com/office/officeart/2008/layout/LinedList"/>
    <dgm:cxn modelId="{F73D043D-0BB1-4420-AD83-E77FE8323F89}" type="presParOf" srcId="{BCFDBFB6-8163-4A29-995F-E8710E8AB902}" destId="{755F4B61-F555-489B-9B5F-463F369E5379}" srcOrd="5" destOrd="0" presId="urn:microsoft.com/office/officeart/2008/layout/LinedList"/>
    <dgm:cxn modelId="{7225E0F7-781E-47B0-8269-C546E39C3017}" type="presParOf" srcId="{755F4B61-F555-489B-9B5F-463F369E5379}" destId="{0E52D901-B6E7-4693-AADD-6C2CB2AF6C64}" srcOrd="0" destOrd="0" presId="urn:microsoft.com/office/officeart/2008/layout/LinedList"/>
    <dgm:cxn modelId="{58237950-311A-4842-8D4F-B27C0AF5A9D6}" type="presParOf" srcId="{755F4B61-F555-489B-9B5F-463F369E5379}" destId="{52A1EE05-7CE9-4B0D-83DD-1016A14ED3BA}" srcOrd="1" destOrd="0" presId="urn:microsoft.com/office/officeart/2008/layout/LinedList"/>
    <dgm:cxn modelId="{76AF6E9F-0DA5-494A-B377-EF111308D642}" type="presParOf" srcId="{BCFDBFB6-8163-4A29-995F-E8710E8AB902}" destId="{B9E7D862-D5AF-40AC-958A-CADAF41EA59E}" srcOrd="6" destOrd="0" presId="urn:microsoft.com/office/officeart/2008/layout/LinedList"/>
    <dgm:cxn modelId="{45406860-1211-4D69-B097-7F60C5F42B59}" type="presParOf" srcId="{BCFDBFB6-8163-4A29-995F-E8710E8AB902}" destId="{330ECC40-F19C-44DA-BE7B-C87E905BF719}" srcOrd="7" destOrd="0" presId="urn:microsoft.com/office/officeart/2008/layout/LinedList"/>
    <dgm:cxn modelId="{DF646C2D-CF2A-4D47-A53B-FA3F5ACBAF3E}" type="presParOf" srcId="{330ECC40-F19C-44DA-BE7B-C87E905BF719}" destId="{4862D4B3-AA4C-4E74-B510-734469887807}" srcOrd="0" destOrd="0" presId="urn:microsoft.com/office/officeart/2008/layout/LinedList"/>
    <dgm:cxn modelId="{A8E763E4-3384-4A9F-92D7-CE1FF0643CCE}" type="presParOf" srcId="{330ECC40-F19C-44DA-BE7B-C87E905BF719}" destId="{F9A1BD64-574F-42F7-A60B-02DB37AF325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481745-27CD-4681-87A8-D0E7E8D58B52}">
      <dsp:nvSpPr>
        <dsp:cNvPr id="0" name=""/>
        <dsp:cNvSpPr/>
      </dsp:nvSpPr>
      <dsp:spPr>
        <a:xfrm>
          <a:off x="0" y="0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09861E-82B0-4D06-9D39-DDC37BFF3AB5}">
      <dsp:nvSpPr>
        <dsp:cNvPr id="0" name=""/>
        <dsp:cNvSpPr/>
      </dsp:nvSpPr>
      <dsp:spPr>
        <a:xfrm>
          <a:off x="0" y="0"/>
          <a:ext cx="6266011" cy="1224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K-means (1)</a:t>
          </a:r>
        </a:p>
      </dsp:txBody>
      <dsp:txXfrm>
        <a:off x="0" y="0"/>
        <a:ext cx="6266011" cy="1224886"/>
      </dsp:txXfrm>
    </dsp:sp>
    <dsp:sp modelId="{BD2A4464-A691-4657-9C76-F04C5AE56F26}">
      <dsp:nvSpPr>
        <dsp:cNvPr id="0" name=""/>
        <dsp:cNvSpPr/>
      </dsp:nvSpPr>
      <dsp:spPr>
        <a:xfrm>
          <a:off x="0" y="1224886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236686"/>
                <a:satOff val="-1956"/>
                <a:lumOff val="-4183"/>
                <a:alphaOff val="0"/>
                <a:tint val="96000"/>
                <a:lumMod val="104000"/>
              </a:schemeClr>
            </a:gs>
            <a:gs pos="100000">
              <a:schemeClr val="accent2">
                <a:hueOff val="-236686"/>
                <a:satOff val="-1956"/>
                <a:lumOff val="-4183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236686"/>
              <a:satOff val="-1956"/>
              <a:lumOff val="-4183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54D531-D5B6-43A7-AE97-E16CCA7C279F}">
      <dsp:nvSpPr>
        <dsp:cNvPr id="0" name=""/>
        <dsp:cNvSpPr/>
      </dsp:nvSpPr>
      <dsp:spPr>
        <a:xfrm>
          <a:off x="0" y="1224886"/>
          <a:ext cx="6266011" cy="1224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DBSCAN (2) </a:t>
          </a:r>
        </a:p>
      </dsp:txBody>
      <dsp:txXfrm>
        <a:off x="0" y="1224886"/>
        <a:ext cx="6266011" cy="1224886"/>
      </dsp:txXfrm>
    </dsp:sp>
    <dsp:sp modelId="{B38730F8-A4AA-4348-A5BE-EAE0AA3460A6}">
      <dsp:nvSpPr>
        <dsp:cNvPr id="0" name=""/>
        <dsp:cNvSpPr/>
      </dsp:nvSpPr>
      <dsp:spPr>
        <a:xfrm>
          <a:off x="0" y="2449773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473373"/>
                <a:satOff val="-3912"/>
                <a:lumOff val="-8366"/>
                <a:alphaOff val="0"/>
                <a:tint val="96000"/>
                <a:lumMod val="104000"/>
              </a:schemeClr>
            </a:gs>
            <a:gs pos="100000">
              <a:schemeClr val="accent2">
                <a:hueOff val="-473373"/>
                <a:satOff val="-3912"/>
                <a:lumOff val="-8366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473373"/>
              <a:satOff val="-3912"/>
              <a:lumOff val="-8366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52D901-B6E7-4693-AADD-6C2CB2AF6C64}">
      <dsp:nvSpPr>
        <dsp:cNvPr id="0" name=""/>
        <dsp:cNvSpPr/>
      </dsp:nvSpPr>
      <dsp:spPr>
        <a:xfrm>
          <a:off x="0" y="2449773"/>
          <a:ext cx="6266011" cy="1224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/>
            <a:t>Hierarchical (3)</a:t>
          </a:r>
        </a:p>
      </dsp:txBody>
      <dsp:txXfrm>
        <a:off x="0" y="2449773"/>
        <a:ext cx="6266011" cy="1224886"/>
      </dsp:txXfrm>
    </dsp:sp>
    <dsp:sp modelId="{B9E7D862-D5AF-40AC-958A-CADAF41EA59E}">
      <dsp:nvSpPr>
        <dsp:cNvPr id="0" name=""/>
        <dsp:cNvSpPr/>
      </dsp:nvSpPr>
      <dsp:spPr>
        <a:xfrm>
          <a:off x="0" y="3674660"/>
          <a:ext cx="6266011" cy="0"/>
        </a:xfrm>
        <a:prstGeom prst="line">
          <a:avLst/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710059"/>
              <a:satOff val="-5868"/>
              <a:lumOff val="-12549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62D4B3-AA4C-4E74-B510-734469887807}">
      <dsp:nvSpPr>
        <dsp:cNvPr id="0" name=""/>
        <dsp:cNvSpPr/>
      </dsp:nvSpPr>
      <dsp:spPr>
        <a:xfrm>
          <a:off x="0" y="3674660"/>
          <a:ext cx="6266011" cy="1224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980" tIns="220980" rIns="220980" bIns="220980" numCol="1" spcCol="1270" anchor="t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Firefly (4) </a:t>
          </a:r>
        </a:p>
      </dsp:txBody>
      <dsp:txXfrm>
        <a:off x="0" y="3674660"/>
        <a:ext cx="6266011" cy="1224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89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1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6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11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0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0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2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80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7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4/27/2026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443576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4/27/2026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742903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4/27/2026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05099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4/27/2026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2710930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4/27/2026</a:t>
            </a:fld>
            <a:endParaRPr lang="en-US" sz="1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2199706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4/27/2026</a:t>
            </a:fld>
            <a:endParaRPr lang="en-US" sz="1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8006012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92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A8D24A4-5FEC-4062-8995-EB21925B3B40}" type="datetime1">
              <a:rPr lang="en-US" smtClean="0"/>
              <a:t>4/27/2026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038514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  <p:sldLayoutId id="2147484058" r:id="rId12"/>
    <p:sldLayoutId id="2147484059" r:id="rId13"/>
    <p:sldLayoutId id="2147484060" r:id="rId14"/>
    <p:sldLayoutId id="2147484061" r:id="rId15"/>
    <p:sldLayoutId id="2147484062" r:id="rId16"/>
    <p:sldLayoutId id="2147484063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F4A96-D76D-16E5-7BD2-00FAD4BAA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73" y="120581"/>
            <a:ext cx="4921645" cy="3742080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/>
              <a:t>Clustering Performance vs Data Size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9E841-2528-65CD-7B9A-B2564DF85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72" y="3862661"/>
            <a:ext cx="4091848" cy="118533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By Nevaeh Zumbrun, Jacob Batton and </a:t>
            </a:r>
            <a:r>
              <a:rPr lang="en-US" dirty="0" err="1"/>
              <a:t>Patriya</a:t>
            </a:r>
            <a:r>
              <a:rPr lang="en-US" dirty="0"/>
              <a:t> Murray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187575-5CB4-477B-AA47-020C6D2A7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552950" y="1"/>
            <a:ext cx="763905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585F70-7C5D-424E-A182-39507AF48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593DD3-9378-9327-BEE0-9AC6A3AE7B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27" r="17027"/>
          <a:stretch>
            <a:fillRect/>
          </a:stretch>
        </p:blipFill>
        <p:spPr>
          <a:xfrm>
            <a:off x="4654297" y="10"/>
            <a:ext cx="753770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3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8B453-FD01-28E2-BC3E-95B82819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Problem and Objective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58AF6-4D58-3172-46AD-7CDF2553D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/>
          </a:bodyPr>
          <a:lstStyle/>
          <a:p>
            <a:pPr marL="36900" indent="0">
              <a:lnSpc>
                <a:spcPct val="90000"/>
              </a:lnSpc>
              <a:buNone/>
            </a:pPr>
            <a:r>
              <a:rPr lang="en-US"/>
              <a:t>Objective: Determine the best algorithm as the data size grows</a:t>
            </a:r>
          </a:p>
          <a:p>
            <a:pPr>
              <a:lnSpc>
                <a:spcPct val="90000"/>
              </a:lnSpc>
            </a:pPr>
            <a:r>
              <a:rPr lang="en-US"/>
              <a:t>Compare clustering algorithms:</a:t>
            </a:r>
          </a:p>
          <a:p>
            <a:pPr lvl="1">
              <a:lnSpc>
                <a:spcPct val="90000"/>
              </a:lnSpc>
            </a:pPr>
            <a:r>
              <a:rPr lang="en-US"/>
              <a:t>DBSCAN</a:t>
            </a:r>
          </a:p>
          <a:p>
            <a:pPr lvl="1">
              <a:lnSpc>
                <a:spcPct val="90000"/>
              </a:lnSpc>
            </a:pPr>
            <a:r>
              <a:rPr lang="en-US"/>
              <a:t>K-means</a:t>
            </a:r>
          </a:p>
          <a:p>
            <a:pPr lvl="1">
              <a:lnSpc>
                <a:spcPct val="90000"/>
              </a:lnSpc>
            </a:pPr>
            <a:r>
              <a:rPr lang="en-US"/>
              <a:t>Firefly algorithm (Nature-inspired)</a:t>
            </a:r>
          </a:p>
          <a:p>
            <a:pPr lvl="1">
              <a:lnSpc>
                <a:spcPct val="90000"/>
              </a:lnSpc>
            </a:pPr>
            <a:r>
              <a:rPr lang="en-US"/>
              <a:t>Hierarchical clustering</a:t>
            </a:r>
          </a:p>
          <a:p>
            <a:pPr>
              <a:lnSpc>
                <a:spcPct val="90000"/>
              </a:lnSpc>
            </a:pPr>
            <a:r>
              <a:rPr lang="en-US"/>
              <a:t>Evaluate Performance using:</a:t>
            </a:r>
          </a:p>
          <a:p>
            <a:pPr lvl="1">
              <a:lnSpc>
                <a:spcPct val="90000"/>
              </a:lnSpc>
            </a:pPr>
            <a:r>
              <a:rPr lang="en-US"/>
              <a:t>Memory Usage</a:t>
            </a:r>
          </a:p>
          <a:p>
            <a:pPr lvl="1">
              <a:lnSpc>
                <a:spcPct val="90000"/>
              </a:lnSpc>
            </a:pPr>
            <a:r>
              <a:rPr lang="en-US"/>
              <a:t>Runtime</a:t>
            </a:r>
          </a:p>
          <a:p>
            <a:pPr lvl="1">
              <a:lnSpc>
                <a:spcPct val="90000"/>
              </a:lnSpc>
            </a:pPr>
            <a:r>
              <a:rPr lang="en-US"/>
              <a:t>Accuracy (Silhouette score)</a:t>
            </a:r>
          </a:p>
          <a:p>
            <a:pPr lvl="1">
              <a:lnSpc>
                <a:spcPct val="90000"/>
              </a:lnSpc>
            </a:pPr>
            <a:r>
              <a:rPr lang="en-US"/>
              <a:t>Scalability</a:t>
            </a:r>
          </a:p>
        </p:txBody>
      </p:sp>
    </p:spTree>
    <p:extLst>
      <p:ext uri="{BB962C8B-B14F-4D97-AF65-F5344CB8AC3E}">
        <p14:creationId xmlns:p14="http://schemas.microsoft.com/office/powerpoint/2010/main" val="8738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88FB86-39C2-3971-862F-FAD4F0F6B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dirty="0"/>
              <a:t>Methods and Implementation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42829-7C7F-F04C-BE1B-C2F50D3E7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05398" y="1115568"/>
            <a:ext cx="6245352" cy="46268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6900" indent="0">
              <a:buFont typeface="Wingdings 2" charset="2"/>
              <a:buNone/>
            </a:pPr>
            <a:r>
              <a:rPr lang="en-US" dirty="0"/>
              <a:t>Implementation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Generate graphs for each metric</a:t>
            </a:r>
          </a:p>
          <a:p>
            <a:r>
              <a:rPr lang="en-US" dirty="0"/>
              <a:t>10 Trials per algorithm</a:t>
            </a:r>
          </a:p>
          <a:p>
            <a:r>
              <a:rPr lang="en-US" dirty="0"/>
              <a:t>Measure silhouette score</a:t>
            </a:r>
          </a:p>
          <a:p>
            <a:pPr marL="36900" indent="0">
              <a:buFont typeface="Wingdings 2" charset="2"/>
              <a:buNone/>
            </a:pPr>
            <a:r>
              <a:rPr lang="en-US" dirty="0"/>
              <a:t>Datasets</a:t>
            </a:r>
          </a:p>
          <a:p>
            <a:r>
              <a:rPr lang="en-US" dirty="0"/>
              <a:t>Iris Dataset (150 datapoints)</a:t>
            </a:r>
          </a:p>
          <a:p>
            <a:pPr indent="-305435"/>
            <a:r>
              <a:rPr lang="en-US"/>
              <a:t>Synthetic Dataset (200-20000 datapoints)</a:t>
            </a: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36900" indent="0">
              <a:buFont typeface="Wingdings 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528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6219DD-264B-5EE1-D18A-D6289F27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Overview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0A123279-8111-958D-8269-B3456DE2F8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9977450"/>
              </p:ext>
            </p:extLst>
          </p:nvPr>
        </p:nvGraphicFramePr>
        <p:xfrm>
          <a:off x="914400" y="1731963"/>
          <a:ext cx="10353675" cy="1854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145575591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542145246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087125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129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Centroid-based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Group around center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25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DBSCAN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Density-based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 Dense regions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741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Hierarchical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Connectivity-based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cluster hierarchy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859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Firefly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Nature-Inspired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attraction between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730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109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9F69E-88B2-9247-40B8-34EA1D802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609600"/>
            <a:ext cx="5168052" cy="1117600"/>
          </a:xfrm>
        </p:spPr>
        <p:txBody>
          <a:bodyPr>
            <a:normAutofit/>
          </a:bodyPr>
          <a:lstStyle/>
          <a:p>
            <a:r>
              <a:rPr lang="en-US" dirty="0"/>
              <a:t>Runtime comparison</a:t>
            </a:r>
          </a:p>
        </p:txBody>
      </p:sp>
      <p:sp>
        <p:nvSpPr>
          <p:cNvPr id="1032" name="Content Placeholder 1031">
            <a:extLst>
              <a:ext uri="{FF2B5EF4-FFF2-40B4-BE49-F238E27FC236}">
                <a16:creationId xmlns:a16="http://schemas.microsoft.com/office/drawing/2014/main" id="{6F908696-38A7-8644-01DD-785EA03BC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1828800"/>
            <a:ext cx="5168052" cy="3962400"/>
          </a:xfrm>
        </p:spPr>
        <p:txBody>
          <a:bodyPr>
            <a:normAutofit/>
          </a:bodyPr>
          <a:lstStyle/>
          <a:p>
            <a:pPr>
              <a:buClr>
                <a:srgbClr val="447EA1"/>
              </a:buClr>
            </a:pPr>
            <a:r>
              <a:rPr lang="en-US" dirty="0"/>
              <a:t>K-means has the fastest runtime as n increases</a:t>
            </a:r>
          </a:p>
          <a:p>
            <a:pPr>
              <a:buClr>
                <a:srgbClr val="447EA1"/>
              </a:buClr>
            </a:pPr>
            <a:r>
              <a:rPr lang="en-US" dirty="0"/>
              <a:t>Hierarchical had a moderate runtime increase</a:t>
            </a:r>
          </a:p>
          <a:p>
            <a:pPr>
              <a:buClr>
                <a:srgbClr val="447EA1"/>
              </a:buClr>
            </a:pPr>
            <a:r>
              <a:rPr lang="en-US" dirty="0"/>
              <a:t>DBSCAN is slightly faster than Hierarchical</a:t>
            </a:r>
          </a:p>
          <a:p>
            <a:pPr>
              <a:buClr>
                <a:srgbClr val="447EA1"/>
              </a:buClr>
            </a:pPr>
            <a:r>
              <a:rPr lang="en-US" dirty="0"/>
              <a:t>Firefly has the slowest run time as n increases</a:t>
            </a:r>
          </a:p>
        </p:txBody>
      </p:sp>
      <p:pic>
        <p:nvPicPr>
          <p:cNvPr id="1035" name="Picture 1034">
            <a:extLst>
              <a:ext uri="{FF2B5EF4-FFF2-40B4-BE49-F238E27FC236}">
                <a16:creationId xmlns:a16="http://schemas.microsoft.com/office/drawing/2014/main" id="{F15A1844-5CB8-438B-B90E-EF2A51CF8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586695" y="1"/>
            <a:ext cx="5605305" cy="6858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F366D05-9CE9-511D-B361-99CD9F498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2879" y="113219"/>
            <a:ext cx="5237279" cy="3003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6C679F3-61ED-2EA7-564C-526B88951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2879" y="3277626"/>
            <a:ext cx="5237279" cy="340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134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ACC9E-3012-86F2-A2BB-035FE2CF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72D1E-621B-CBAD-AD81-96BF6FDEB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609600"/>
            <a:ext cx="5168052" cy="1117600"/>
          </a:xfrm>
        </p:spPr>
        <p:txBody>
          <a:bodyPr>
            <a:normAutofit/>
          </a:bodyPr>
          <a:lstStyle/>
          <a:p>
            <a:r>
              <a:rPr lang="en-US" dirty="0"/>
              <a:t>Accuracy </a:t>
            </a:r>
          </a:p>
        </p:txBody>
      </p:sp>
      <p:sp>
        <p:nvSpPr>
          <p:cNvPr id="1032" name="Content Placeholder 1031">
            <a:extLst>
              <a:ext uri="{FF2B5EF4-FFF2-40B4-BE49-F238E27FC236}">
                <a16:creationId xmlns:a16="http://schemas.microsoft.com/office/drawing/2014/main" id="{60C0C4F2-92F9-4038-D16F-0CF1489D7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1828800"/>
            <a:ext cx="5168052" cy="3962400"/>
          </a:xfrm>
        </p:spPr>
        <p:txBody>
          <a:bodyPr>
            <a:normAutofit/>
          </a:bodyPr>
          <a:lstStyle/>
          <a:p>
            <a:pPr>
              <a:buClr>
                <a:srgbClr val="447EA1"/>
              </a:buClr>
            </a:pPr>
            <a:r>
              <a:rPr lang="en-US" dirty="0"/>
              <a:t>Firefly had inconsistent silhouette scores</a:t>
            </a:r>
          </a:p>
          <a:p>
            <a:pPr>
              <a:buClr>
                <a:srgbClr val="447EA1"/>
              </a:buClr>
            </a:pPr>
            <a:r>
              <a:rPr lang="en-US" dirty="0"/>
              <a:t>Hierarchical scores decreased as n increases </a:t>
            </a:r>
          </a:p>
          <a:p>
            <a:pPr>
              <a:buClr>
                <a:srgbClr val="447EA1"/>
              </a:buClr>
            </a:pPr>
            <a:r>
              <a:rPr lang="en-US" dirty="0"/>
              <a:t>K-means had consistently high silhouette scores</a:t>
            </a:r>
          </a:p>
          <a:p>
            <a:pPr>
              <a:buClr>
                <a:srgbClr val="447EA1"/>
              </a:buClr>
            </a:pPr>
            <a:r>
              <a:rPr lang="en-US" dirty="0"/>
              <a:t>DBSCAN produced the highest silhouette scores on average with the right parameters</a:t>
            </a:r>
          </a:p>
        </p:txBody>
      </p:sp>
      <p:pic>
        <p:nvPicPr>
          <p:cNvPr id="1035" name="Picture 1034">
            <a:extLst>
              <a:ext uri="{FF2B5EF4-FFF2-40B4-BE49-F238E27FC236}">
                <a16:creationId xmlns:a16="http://schemas.microsoft.com/office/drawing/2014/main" id="{731C40AC-9C7A-836F-F31D-753773613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586695" y="1"/>
            <a:ext cx="5605305" cy="68580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4A1956E-A9C2-68CF-CBE6-753844BDD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940" y="609601"/>
            <a:ext cx="5029611" cy="3007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326DED-940F-7485-C17C-056F4F961962}"/>
              </a:ext>
            </a:extLst>
          </p:cNvPr>
          <p:cNvSpPr txBox="1"/>
          <p:nvPr/>
        </p:nvSpPr>
        <p:spPr>
          <a:xfrm>
            <a:off x="8975033" y="240268"/>
            <a:ext cx="828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Firefly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F103E3F-2931-EF9C-E7CD-5DB049749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940" y="3797325"/>
            <a:ext cx="5029611" cy="199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577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1B665-02D1-0D4E-495F-631DFA1BB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CF69-3149-8566-8607-BDDD31406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609600"/>
            <a:ext cx="5168052" cy="1117600"/>
          </a:xfrm>
        </p:spPr>
        <p:txBody>
          <a:bodyPr>
            <a:normAutofit/>
          </a:bodyPr>
          <a:lstStyle/>
          <a:p>
            <a:r>
              <a:rPr lang="en-US" dirty="0"/>
              <a:t>Memory Usage </a:t>
            </a:r>
          </a:p>
        </p:txBody>
      </p:sp>
      <p:sp>
        <p:nvSpPr>
          <p:cNvPr id="1032" name="Content Placeholder 1031">
            <a:extLst>
              <a:ext uri="{FF2B5EF4-FFF2-40B4-BE49-F238E27FC236}">
                <a16:creationId xmlns:a16="http://schemas.microsoft.com/office/drawing/2014/main" id="{761BC4A4-FF0D-2A0E-6BF3-C8437F827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1828800"/>
            <a:ext cx="5168052" cy="3962400"/>
          </a:xfrm>
        </p:spPr>
        <p:txBody>
          <a:bodyPr>
            <a:normAutofit/>
          </a:bodyPr>
          <a:lstStyle/>
          <a:p>
            <a:pPr>
              <a:buClr>
                <a:srgbClr val="447EA1"/>
              </a:buClr>
            </a:pPr>
            <a:r>
              <a:rPr lang="en-US" dirty="0"/>
              <a:t>All algorithms had increased memory usage as the dataset size increased. </a:t>
            </a:r>
          </a:p>
          <a:p>
            <a:pPr>
              <a:buClr>
                <a:srgbClr val="447EA1"/>
              </a:buClr>
            </a:pPr>
            <a:r>
              <a:rPr lang="en-US" dirty="0"/>
              <a:t>Fluctuations were likely due to system memory allocation</a:t>
            </a:r>
          </a:p>
          <a:p>
            <a:pPr>
              <a:buClr>
                <a:srgbClr val="447EA1"/>
              </a:buClr>
            </a:pPr>
            <a:endParaRPr lang="en-US" dirty="0"/>
          </a:p>
        </p:txBody>
      </p:sp>
      <p:pic>
        <p:nvPicPr>
          <p:cNvPr id="1035" name="Picture 1034">
            <a:extLst>
              <a:ext uri="{FF2B5EF4-FFF2-40B4-BE49-F238E27FC236}">
                <a16:creationId xmlns:a16="http://schemas.microsoft.com/office/drawing/2014/main" id="{3CE05627-5524-7235-82F4-CDC70476B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586695" y="1"/>
            <a:ext cx="5605305" cy="68580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B4D0070-8674-57E5-0973-FB1802923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307" y="164209"/>
            <a:ext cx="4350658" cy="326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FF9787B-1028-EE3F-AE24-C450BDB64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307" y="3921683"/>
            <a:ext cx="4350658" cy="293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1325D6-0C0A-996E-5750-AE59E0523AA6}"/>
              </a:ext>
            </a:extLst>
          </p:cNvPr>
          <p:cNvSpPr txBox="1"/>
          <p:nvPr/>
        </p:nvSpPr>
        <p:spPr>
          <a:xfrm>
            <a:off x="8890323" y="3552350"/>
            <a:ext cx="828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Firefly</a:t>
            </a:r>
          </a:p>
        </p:txBody>
      </p:sp>
    </p:spTree>
    <p:extLst>
      <p:ext uri="{BB962C8B-B14F-4D97-AF65-F5344CB8AC3E}">
        <p14:creationId xmlns:p14="http://schemas.microsoft.com/office/powerpoint/2010/main" val="212727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CA022-E6FF-2136-F92C-6F3FA6D71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49BC6-CE6C-DA51-CEE9-1ADD721A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US" dirty="0"/>
              <a:t>Scalability ratings </a:t>
            </a:r>
          </a:p>
        </p:txBody>
      </p:sp>
      <p:pic>
        <p:nvPicPr>
          <p:cNvPr id="1038" name="Picture 1037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1034" name="Content Placeholder 1031">
            <a:extLst>
              <a:ext uri="{FF2B5EF4-FFF2-40B4-BE49-F238E27FC236}">
                <a16:creationId xmlns:a16="http://schemas.microsoft.com/office/drawing/2014/main" id="{30031E12-13FD-4808-EFAE-1749FF5842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1330742"/>
              </p:ext>
            </p:extLst>
          </p:nvPr>
        </p:nvGraphicFramePr>
        <p:xfrm>
          <a:off x="5282521" y="709683"/>
          <a:ext cx="6266011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01341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DC88-BA91-86A6-4B01-45B23F91F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“best” clustering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C1CE0-A48F-1AED-F3F3-FE36CB843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Fastest runtime: K-means</a:t>
            </a:r>
          </a:p>
          <a:p>
            <a:r>
              <a:rPr lang="en-US" dirty="0"/>
              <a:t>Best accuracy: DBSCAN</a:t>
            </a:r>
          </a:p>
          <a:p>
            <a:r>
              <a:rPr lang="en-US" dirty="0"/>
              <a:t>Best Scalability: K-means</a:t>
            </a:r>
          </a:p>
          <a:p>
            <a:r>
              <a:rPr lang="en-US" dirty="0"/>
              <a:t>Worst as dataset size increases: Firefly</a:t>
            </a: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079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0122C-5308-2188-EBFF-E7603E777F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Q &amp; A Time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406E2-1C92-021C-9876-E1154F1E84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Any questions?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380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194</TotalTime>
  <Words>245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Calisto MT</vt:lpstr>
      <vt:lpstr>Wingdings 2</vt:lpstr>
      <vt:lpstr>Slate</vt:lpstr>
      <vt:lpstr>Clustering Performance vs Data Size</vt:lpstr>
      <vt:lpstr>Problem and Objective</vt:lpstr>
      <vt:lpstr>Methods and Implementation</vt:lpstr>
      <vt:lpstr>Algorithm Overview</vt:lpstr>
      <vt:lpstr>Runtime comparison</vt:lpstr>
      <vt:lpstr>Accuracy </vt:lpstr>
      <vt:lpstr>Memory Usage </vt:lpstr>
      <vt:lpstr>Scalability ratings </vt:lpstr>
      <vt:lpstr>The “best” clustering algorithm</vt:lpstr>
      <vt:lpstr>Q &amp; A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Love is patient Love is kind</dc:creator>
  <cp:lastModifiedBy>Love is patient Love is kind</cp:lastModifiedBy>
  <cp:revision>10</cp:revision>
  <dcterms:created xsi:type="dcterms:W3CDTF">2026-04-27T05:12:31Z</dcterms:created>
  <dcterms:modified xsi:type="dcterms:W3CDTF">2026-04-27T13:43:15Z</dcterms:modified>
</cp:coreProperties>
</file>